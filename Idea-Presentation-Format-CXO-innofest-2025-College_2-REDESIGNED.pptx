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embeddedFontLst>
    <p:embeddedFont>
      <p:font typeface="Franklin Gothic" panose="020B0604020202020204" charset="0"/>
      <p:bold r:id="rId9"/>
    </p:embeddedFont>
    <p:embeddedFont>
      <p:font typeface="Libre Franklin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q8zRYJcd+U/6lA/jo0T3y/iUc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0F49C-2E3B-45D5-8687-05E95C74C46E}" v="30" dt="2026-07-23T10:55:18.360"/>
  </p1510:revLst>
</p1510:revInfo>
</file>

<file path=ppt/tableStyles.xml><?xml version="1.0" encoding="utf-8"?>
<a:tblStyleLst xmlns:a="http://schemas.openxmlformats.org/drawingml/2006/main" def="{F5626477-4518-4685-8634-3717B58DE60A}">
  <a:tblStyle styleId="{F5626477-4518-4685-8634-3717B58DE6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64" autoAdjust="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23" Type="http://schemas.microsoft.com/office/2016/11/relationships/changesInfo" Target="changesInfos/changesInfo1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itha Pramod" userId="5d463d1717420265" providerId="LiveId" clId="{5D24AF61-0325-4399-A1F2-EA22527D56D6}"/>
    <pc:docChg chg="undo redo custSel delSld modSld">
      <pc:chgData name="Pranitha Pramod" userId="5d463d1717420265" providerId="LiveId" clId="{5D24AF61-0325-4399-A1F2-EA22527D56D6}" dt="2026-07-23T10:58:12.932" v="532" actId="20577"/>
      <pc:docMkLst>
        <pc:docMk/>
      </pc:docMkLst>
      <pc:sldChg chg="del">
        <pc:chgData name="Pranitha Pramod" userId="5d463d1717420265" providerId="LiveId" clId="{5D24AF61-0325-4399-A1F2-EA22527D56D6}" dt="2026-07-23T10:37:55.521" v="319" actId="47"/>
        <pc:sldMkLst>
          <pc:docMk/>
          <pc:sldMk cId="0" sldId="256"/>
        </pc:sldMkLst>
      </pc:sldChg>
      <pc:sldChg chg="modSp mod">
        <pc:chgData name="Pranitha Pramod" userId="5d463d1717420265" providerId="LiveId" clId="{5D24AF61-0325-4399-A1F2-EA22527D56D6}" dt="2026-07-23T10:58:12.932" v="532" actId="20577"/>
        <pc:sldMkLst>
          <pc:docMk/>
          <pc:sldMk cId="0" sldId="257"/>
        </pc:sldMkLst>
        <pc:spChg chg="mod">
          <ac:chgData name="Pranitha Pramod" userId="5d463d1717420265" providerId="LiveId" clId="{5D24AF61-0325-4399-A1F2-EA22527D56D6}" dt="2026-07-23T10:58:12.932" v="532" actId="20577"/>
          <ac:spMkLst>
            <pc:docMk/>
            <pc:sldMk cId="0" sldId="257"/>
            <ac:spMk id="122" creationId="{00000000-0000-0000-0000-000000000000}"/>
          </ac:spMkLst>
        </pc:spChg>
      </pc:sldChg>
      <pc:sldChg chg="modSp mod">
        <pc:chgData name="Pranitha Pramod" userId="5d463d1717420265" providerId="LiveId" clId="{5D24AF61-0325-4399-A1F2-EA22527D56D6}" dt="2026-07-23T10:11:22.058" v="20" actId="20577"/>
        <pc:sldMkLst>
          <pc:docMk/>
          <pc:sldMk cId="0" sldId="258"/>
        </pc:sldMkLst>
        <pc:spChg chg="mod">
          <ac:chgData name="Pranitha Pramod" userId="5d463d1717420265" providerId="LiveId" clId="{5D24AF61-0325-4399-A1F2-EA22527D56D6}" dt="2026-07-23T10:11:22.058" v="20" actId="20577"/>
          <ac:spMkLst>
            <pc:docMk/>
            <pc:sldMk cId="0" sldId="258"/>
            <ac:spMk id="132" creationId="{00000000-0000-0000-0000-000000000000}"/>
          </ac:spMkLst>
        </pc:spChg>
      </pc:sldChg>
      <pc:sldChg chg="modSp mod">
        <pc:chgData name="Pranitha Pramod" userId="5d463d1717420265" providerId="LiveId" clId="{5D24AF61-0325-4399-A1F2-EA22527D56D6}" dt="2026-07-23T10:18:56.433" v="87" actId="2711"/>
        <pc:sldMkLst>
          <pc:docMk/>
          <pc:sldMk cId="0" sldId="259"/>
        </pc:sldMkLst>
        <pc:spChg chg="mod">
          <ac:chgData name="Pranitha Pramod" userId="5d463d1717420265" providerId="LiveId" clId="{5D24AF61-0325-4399-A1F2-EA22527D56D6}" dt="2026-07-23T10:14:18.684" v="43" actId="5793"/>
          <ac:spMkLst>
            <pc:docMk/>
            <pc:sldMk cId="0" sldId="259"/>
            <ac:spMk id="138" creationId="{00000000-0000-0000-0000-000000000000}"/>
          </ac:spMkLst>
        </pc:spChg>
        <pc:spChg chg="mod">
          <ac:chgData name="Pranitha Pramod" userId="5d463d1717420265" providerId="LiveId" clId="{5D24AF61-0325-4399-A1F2-EA22527D56D6}" dt="2026-07-23T10:18:56.433" v="87" actId="2711"/>
          <ac:spMkLst>
            <pc:docMk/>
            <pc:sldMk cId="0" sldId="259"/>
            <ac:spMk id="142" creationId="{00000000-0000-0000-0000-000000000000}"/>
          </ac:spMkLst>
        </pc:spChg>
      </pc:sldChg>
      <pc:sldChg chg="addSp delSp modSp mod">
        <pc:chgData name="Pranitha Pramod" userId="5d463d1717420265" providerId="LiveId" clId="{5D24AF61-0325-4399-A1F2-EA22527D56D6}" dt="2026-07-23T10:56:21.926" v="520" actId="14100"/>
        <pc:sldMkLst>
          <pc:docMk/>
          <pc:sldMk cId="0" sldId="260"/>
        </pc:sldMkLst>
        <pc:spChg chg="add del mod">
          <ac:chgData name="Pranitha Pramod" userId="5d463d1717420265" providerId="LiveId" clId="{5D24AF61-0325-4399-A1F2-EA22527D56D6}" dt="2026-07-23T10:18:54.518" v="85" actId="1076"/>
          <ac:spMkLst>
            <pc:docMk/>
            <pc:sldMk cId="0" sldId="260"/>
            <ac:spMk id="5" creationId="{F01FF7DD-B9B6-0B1C-61B1-2E08F776F7E4}"/>
          </ac:spMkLst>
        </pc:spChg>
        <pc:spChg chg="add mod">
          <ac:chgData name="Pranitha Pramod" userId="5d463d1717420265" providerId="LiveId" clId="{5D24AF61-0325-4399-A1F2-EA22527D56D6}" dt="2026-07-23T10:28:38.875" v="226" actId="767"/>
          <ac:spMkLst>
            <pc:docMk/>
            <pc:sldMk cId="0" sldId="260"/>
            <ac:spMk id="7" creationId="{1F0C71B0-1D86-36D1-0DD5-F8191FEA7A9A}"/>
          </ac:spMkLst>
        </pc:spChg>
        <pc:spChg chg="add del mod">
          <ac:chgData name="Pranitha Pramod" userId="5d463d1717420265" providerId="LiveId" clId="{5D24AF61-0325-4399-A1F2-EA22527D56D6}" dt="2026-07-23T10:29:04.770" v="233" actId="478"/>
          <ac:spMkLst>
            <pc:docMk/>
            <pc:sldMk cId="0" sldId="260"/>
            <ac:spMk id="8" creationId="{8FD5991F-C37D-42D3-112E-8560A106E883}"/>
          </ac:spMkLst>
        </pc:spChg>
        <pc:spChg chg="add mod">
          <ac:chgData name="Pranitha Pramod" userId="5d463d1717420265" providerId="LiveId" clId="{5D24AF61-0325-4399-A1F2-EA22527D56D6}" dt="2026-07-23T10:44:24.116" v="415" actId="1076"/>
          <ac:spMkLst>
            <pc:docMk/>
            <pc:sldMk cId="0" sldId="260"/>
            <ac:spMk id="9" creationId="{33F41912-3903-CC9C-D657-8C66F05E86F5}"/>
          </ac:spMkLst>
        </pc:spChg>
        <pc:spChg chg="add del mod">
          <ac:chgData name="Pranitha Pramod" userId="5d463d1717420265" providerId="LiveId" clId="{5D24AF61-0325-4399-A1F2-EA22527D56D6}" dt="2026-07-23T10:45:45.821" v="422"/>
          <ac:spMkLst>
            <pc:docMk/>
            <pc:sldMk cId="0" sldId="260"/>
            <ac:spMk id="10" creationId="{AC097889-6644-917A-494A-9418B2E961E3}"/>
          </ac:spMkLst>
        </pc:spChg>
        <pc:spChg chg="add mod">
          <ac:chgData name="Pranitha Pramod" userId="5d463d1717420265" providerId="LiveId" clId="{5D24AF61-0325-4399-A1F2-EA22527D56D6}" dt="2026-07-23T10:49:29.893" v="458" actId="1076"/>
          <ac:spMkLst>
            <pc:docMk/>
            <pc:sldMk cId="0" sldId="260"/>
            <ac:spMk id="12" creationId="{B586B5E6-B494-4AE9-13B4-77D20BC34661}"/>
          </ac:spMkLst>
        </pc:spChg>
        <pc:spChg chg="add mod">
          <ac:chgData name="Pranitha Pramod" userId="5d463d1717420265" providerId="LiveId" clId="{5D24AF61-0325-4399-A1F2-EA22527D56D6}" dt="2026-07-23T10:56:21.926" v="520" actId="14100"/>
          <ac:spMkLst>
            <pc:docMk/>
            <pc:sldMk cId="0" sldId="260"/>
            <ac:spMk id="13" creationId="{E0BC03A7-85B9-B145-4913-86712A70803A}"/>
          </ac:spMkLst>
        </pc:spChg>
        <pc:spChg chg="mod">
          <ac:chgData name="Pranitha Pramod" userId="5d463d1717420265" providerId="LiveId" clId="{5D24AF61-0325-4399-A1F2-EA22527D56D6}" dt="2026-07-23T10:51:01.141" v="467" actId="14100"/>
          <ac:spMkLst>
            <pc:docMk/>
            <pc:sldMk cId="0" sldId="260"/>
            <ac:spMk id="150" creationId="{00000000-0000-0000-0000-000000000000}"/>
          </ac:spMkLst>
        </pc:spChg>
        <pc:graphicFrameChg chg="add del mod modGraphic">
          <ac:chgData name="Pranitha Pramod" userId="5d463d1717420265" providerId="LiveId" clId="{5D24AF61-0325-4399-A1F2-EA22527D56D6}" dt="2026-07-23T10:19:19.659" v="91" actId="478"/>
          <ac:graphicFrameMkLst>
            <pc:docMk/>
            <pc:sldMk cId="0" sldId="260"/>
            <ac:graphicFrameMk id="2" creationId="{AAD155D6-A613-AAA3-8A88-69D1427D7D9E}"/>
          </ac:graphicFrameMkLst>
        </pc:graphicFrameChg>
        <pc:graphicFrameChg chg="add del mod modGraphic">
          <ac:chgData name="Pranitha Pramod" userId="5d463d1717420265" providerId="LiveId" clId="{5D24AF61-0325-4399-A1F2-EA22527D56D6}" dt="2026-07-23T10:18:53.013" v="81" actId="20577"/>
          <ac:graphicFrameMkLst>
            <pc:docMk/>
            <pc:sldMk cId="0" sldId="260"/>
            <ac:graphicFrameMk id="3" creationId="{29D05A7F-79BB-7844-3488-E57A9BC39F09}"/>
          </ac:graphicFrameMkLst>
        </pc:graphicFrameChg>
        <pc:graphicFrameChg chg="add mod modGraphic">
          <ac:chgData name="Pranitha Pramod" userId="5d463d1717420265" providerId="LiveId" clId="{5D24AF61-0325-4399-A1F2-EA22527D56D6}" dt="2026-07-23T10:50:56.502" v="466" actId="1076"/>
          <ac:graphicFrameMkLst>
            <pc:docMk/>
            <pc:sldMk cId="0" sldId="260"/>
            <ac:graphicFrameMk id="6" creationId="{77A462B3-60F4-398F-9CDE-32464EC98A35}"/>
          </ac:graphicFrameMkLst>
        </pc:graphicFrameChg>
        <pc:graphicFrameChg chg="add mod modGraphic">
          <ac:chgData name="Pranitha Pramod" userId="5d463d1717420265" providerId="LiveId" clId="{5D24AF61-0325-4399-A1F2-EA22527D56D6}" dt="2026-07-23T10:51:56.352" v="469" actId="1076"/>
          <ac:graphicFrameMkLst>
            <pc:docMk/>
            <pc:sldMk cId="0" sldId="260"/>
            <ac:graphicFrameMk id="11" creationId="{3C246678-208D-44D7-147F-4B9D2F86569F}"/>
          </ac:graphicFrameMkLst>
        </pc:graphicFrameChg>
      </pc:sldChg>
      <pc:sldChg chg="modSp mod">
        <pc:chgData name="Pranitha Pramod" userId="5d463d1717420265" providerId="LiveId" clId="{5D24AF61-0325-4399-A1F2-EA22527D56D6}" dt="2026-07-23T10:57:46.736" v="530" actId="113"/>
        <pc:sldMkLst>
          <pc:docMk/>
          <pc:sldMk cId="0" sldId="262"/>
        </pc:sldMkLst>
        <pc:graphicFrameChg chg="modGraphic">
          <ac:chgData name="Pranitha Pramod" userId="5d463d1717420265" providerId="LiveId" clId="{5D24AF61-0325-4399-A1F2-EA22527D56D6}" dt="2026-07-23T10:57:46.736" v="530" actId="113"/>
          <ac:graphicFrameMkLst>
            <pc:docMk/>
            <pc:sldMk cId="0" sldId="262"/>
            <ac:graphicFrameMk id="17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66ffcac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5" name="Google Shape;145;g2566ffcac0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2566ffcac0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74f6a20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3" name="Google Shape;153;g3674f6a20a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g3674f6a20a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3" name="Google Shape;93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>
            <a:spLocks noGrp="1"/>
          </p:cNvSpPr>
          <p:nvPr>
            <p:ph type="ctrTitle"/>
          </p:nvPr>
        </p:nvSpPr>
        <p:spPr>
          <a:xfrm>
            <a:off x="388322" y="423933"/>
            <a:ext cx="11041678" cy="11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/>
              <a:t>Basic Details of the Team and Problem Statement</a:t>
            </a:r>
            <a:endParaRPr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1"/>
          </p:nvPr>
        </p:nvSpPr>
        <p:spPr>
          <a:xfrm>
            <a:off x="388322" y="1103970"/>
            <a:ext cx="11481124" cy="486193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001" name="Shape 1001"/>
          <p:cNvSpPr/>
          <p:nvPr/>
        </p:nvSpPr>
        <p:spPr>
          <a:xfrm>
            <a:off x="2046000" y="1750000"/>
            <a:ext cx="2500000" cy="4800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CADCFC"/>
                </a:solidFill>
                <a:latin typeface="Franklin Gothic"/>
                <a:cs typeface="Franklin Gothic"/>
              </a:rPr>
              <a:t>PSID:  </a:t>
            </a:r>
            <a:r>
              <a:rPr lang="en-US" sz="1200" b="1" dirty="0">
                <a:solidFill>
                  <a:srgbClr val="FFFFFF"/>
                </a:solidFill>
                <a:latin typeface="Franklin Gothic"/>
                <a:cs typeface="Franklin Gothic"/>
              </a:rPr>
              <a:t>006</a:t>
            </a:r>
          </a:p>
        </p:txBody>
      </p:sp>
      <p:sp>
        <p:nvSpPr>
          <p:cNvPr id="1002" name="Shape 1002"/>
          <p:cNvSpPr/>
          <p:nvPr/>
        </p:nvSpPr>
        <p:spPr>
          <a:xfrm>
            <a:off x="4846000" y="1750000"/>
            <a:ext cx="2500000" cy="4800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CADCFC"/>
                </a:solidFill>
                <a:latin typeface="Franklin Gothic"/>
                <a:cs typeface="Franklin Gothic"/>
              </a:rPr>
              <a:t>TEAM:  </a:t>
            </a:r>
            <a:r>
              <a:rPr lang="en-US" sz="1200" b="1" dirty="0">
                <a:solidFill>
                  <a:srgbClr val="FFFFFF"/>
                </a:solidFill>
                <a:latin typeface="Franklin Gothic"/>
                <a:cs typeface="Franklin Gothic"/>
              </a:rPr>
              <a:t>AURAX</a:t>
            </a:r>
          </a:p>
        </p:txBody>
      </p:sp>
      <p:sp>
        <p:nvSpPr>
          <p:cNvPr id="1003" name="Shape 1003"/>
          <p:cNvSpPr/>
          <p:nvPr/>
        </p:nvSpPr>
        <p:spPr>
          <a:xfrm>
            <a:off x="7646000" y="1750000"/>
            <a:ext cx="2500000" cy="4800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CADCFC"/>
                </a:solidFill>
                <a:latin typeface="Franklin Gothic"/>
                <a:cs typeface="Franklin Gothic"/>
              </a:rPr>
              <a:t>CITY:  </a:t>
            </a:r>
            <a:r>
              <a:rPr lang="en-US" sz="1200" b="1" dirty="0">
                <a:solidFill>
                  <a:srgbClr val="FFFFFF"/>
                </a:solidFill>
                <a:latin typeface="Franklin Gothic"/>
                <a:cs typeface="Franklin Gothic"/>
              </a:rPr>
              <a:t>BENGALURU</a:t>
            </a:r>
          </a:p>
        </p:txBody>
      </p:sp>
      <p:sp>
        <p:nvSpPr>
          <p:cNvPr id="1004" name="Shape 1004"/>
          <p:cNvSpPr/>
          <p:nvPr/>
        </p:nvSpPr>
        <p:spPr>
          <a:xfrm>
            <a:off x="396000" y="2580000"/>
            <a:ext cx="11400000" cy="1550000"/>
          </a:xfrm>
          <a:prstGeom prst="roundRect">
            <a:avLst>
              <a:gd name="adj" fmla="val 6000"/>
            </a:avLst>
          </a:prstGeom>
          <a:solidFill>
            <a:srgbClr val="EDF1FB"/>
          </a:solidFill>
          <a:ln>
            <a:noFill/>
          </a:ln>
        </p:spPr>
        <p:txBody>
          <a:bodyPr wrap="square" lIns="137160" tIns="45720" rIns="137160" bIns="4572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E2761"/>
                </a:solidFill>
                <a:latin typeface="Franklin Gothic"/>
                <a:cs typeface="Franklin Gothic"/>
              </a:rPr>
              <a:t>PROBLEM STATEMENT</a:t>
            </a:r>
          </a:p>
          <a:p>
            <a:pPr algn="ctr"/>
            <a:r>
              <a:rPr lang="en-US" sz="3200" b="1" dirty="0">
                <a:solidFill>
                  <a:srgbClr val="1E2761"/>
                </a:solidFill>
                <a:latin typeface="Franklin Gothic"/>
                <a:cs typeface="Franklin Gothic"/>
              </a:rPr>
              <a:t>AI Watch Tower</a:t>
            </a:r>
          </a:p>
        </p:txBody>
      </p:sp>
      <p:sp>
        <p:nvSpPr>
          <p:cNvPr id="1005" name="Shape 1005"/>
          <p:cNvSpPr/>
          <p:nvPr/>
        </p:nvSpPr>
        <p:spPr>
          <a:xfrm>
            <a:off x="396000" y="4480000"/>
            <a:ext cx="5550000" cy="1550000"/>
          </a:xfrm>
          <a:prstGeom prst="roundRect">
            <a:avLst>
              <a:gd name="adj" fmla="val 8000"/>
            </a:avLst>
          </a:prstGeom>
          <a:solidFill>
            <a:srgbClr val="F7F9FE"/>
          </a:solidFill>
          <a:ln w="9525">
            <a:solidFill>
              <a:srgbClr val="CADCFC"/>
            </a:solidFill>
          </a:ln>
        </p:spPr>
        <p:txBody>
          <a:bodyPr wrap="square" lIns="137160" tIns="45720" rIns="137160" bIns="4572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E2761"/>
                </a:solidFill>
                <a:latin typeface="Franklin Gothic"/>
                <a:cs typeface="Franklin Gothic"/>
              </a:rPr>
              <a:t>TEAM LEADER</a:t>
            </a:r>
          </a:p>
          <a:p>
            <a:pPr algn="ctr"/>
            <a:r>
              <a:rPr lang="en-US" sz="2000" b="1" dirty="0">
                <a:solidFill>
                  <a:srgbClr val="1A1A1A"/>
                </a:solidFill>
                <a:latin typeface="Franklin Gothic"/>
                <a:cs typeface="Franklin Gothic"/>
              </a:rPr>
              <a:t>Pranitha Pramod</a:t>
            </a:r>
          </a:p>
        </p:txBody>
      </p:sp>
      <p:sp>
        <p:nvSpPr>
          <p:cNvPr id="1006" name="Shape 1006"/>
          <p:cNvSpPr/>
          <p:nvPr/>
        </p:nvSpPr>
        <p:spPr>
          <a:xfrm>
            <a:off x="6246000" y="4480000"/>
            <a:ext cx="5550000" cy="1550000"/>
          </a:xfrm>
          <a:prstGeom prst="roundRect">
            <a:avLst>
              <a:gd name="adj" fmla="val 8000"/>
            </a:avLst>
          </a:prstGeom>
          <a:solidFill>
            <a:srgbClr val="F7F9FE"/>
          </a:solidFill>
          <a:ln w="9525">
            <a:solidFill>
              <a:srgbClr val="CADCFC"/>
            </a:solidFill>
          </a:ln>
        </p:spPr>
        <p:txBody>
          <a:bodyPr wrap="square" lIns="137160" tIns="45720" rIns="137160" bIns="4572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E2761"/>
                </a:solidFill>
                <a:latin typeface="Franklin Gothic"/>
                <a:cs typeface="Franklin Gothic"/>
              </a:rPr>
              <a:t>INSTITUTE</a:t>
            </a:r>
          </a:p>
          <a:p>
            <a:pPr algn="ctr"/>
            <a:r>
              <a:rPr lang="en-US" sz="1700" b="1" dirty="0">
                <a:solidFill>
                  <a:srgbClr val="1A1A1A"/>
                </a:solidFill>
                <a:latin typeface="Franklin Gothic"/>
                <a:cs typeface="Franklin Gothic"/>
              </a:rPr>
              <a:t>Jain (Deemed-to-be)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>
            <a:spLocks noGrp="1"/>
          </p:cNvSpPr>
          <p:nvPr>
            <p:ph type="title"/>
          </p:nvPr>
        </p:nvSpPr>
        <p:spPr>
          <a:xfrm>
            <a:off x="94228" y="144261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129" name="Google Shape;129;p2"/>
          <p:cNvSpPr txBox="1">
            <a:spLocks noGrp="1"/>
          </p:cNvSpPr>
          <p:nvPr>
            <p:ph type="body" idx="1"/>
          </p:nvPr>
        </p:nvSpPr>
        <p:spPr>
          <a:xfrm>
            <a:off x="94228" y="755124"/>
            <a:ext cx="7165215" cy="58247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Franklin Gothic"/>
                <a:cs typeface="Franklin Gothic"/>
              </a:rPr>
              <a:t>Describe your idea/Solution/Prototype here: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Inline Interception: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Real-time control plane between employees and Generative AI — governs shadow AI usage.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Dynamic Risk Scoring: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Live behavioral telemetry + task sensitivity scored every session (Roverreliance™).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Real-Time Data Masking: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Detects &amp; redacts Aadhaar, PAN, passwords and IP before prompts reach the model.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Tiered Intentional Friction: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Confidence heatmaps &amp; copy-paste limits force human verification on risky outputs.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Continuous Compliance Audit: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Every interaction mapped to NIST AI RMF &amp; ISO/IEC 42001-ready audit trails.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Policy-as-Code: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Compliance teams update guardrails dynamically — no core code changes needed.</a:t>
            </a:r>
          </a:p>
        </p:txBody>
      </p:sp>
      <p:sp>
        <p:nvSpPr>
          <p:cNvPr id="130" name="Google Shape;130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01" name="Shape 201"/>
          <p:cNvSpPr/>
          <p:nvPr/>
        </p:nvSpPr>
        <p:spPr>
          <a:xfrm>
            <a:off x="7975000" y="755124"/>
            <a:ext cx="3300000" cy="4600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Franklin Gothic"/>
                <a:cs typeface="Franklin Gothic"/>
              </a:rPr>
              <a:t>EMPLOYEE PROMPT</a:t>
            </a:r>
          </a:p>
        </p:txBody>
      </p:sp>
      <p:sp>
        <p:nvSpPr>
          <p:cNvPr id="202" name="Arrow 202"/>
          <p:cNvSpPr/>
          <p:nvPr/>
        </p:nvSpPr>
        <p:spPr>
          <a:xfrm>
            <a:off x="9495000" y="1255124"/>
            <a:ext cx="260000" cy="320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Shape 203"/>
          <p:cNvSpPr/>
          <p:nvPr/>
        </p:nvSpPr>
        <p:spPr>
          <a:xfrm>
            <a:off x="7150000" y="1615124"/>
            <a:ext cx="4950000" cy="82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Franklin Gothic"/>
                <a:cs typeface="Franklin Gothic"/>
              </a:rPr>
              <a:t>AI WATCH TOWER</a:t>
            </a:r>
          </a:p>
          <a:p>
            <a:pPr algn="ctr"/>
            <a:r>
              <a:rPr lang="en-US" sz="1100" i="1" dirty="0">
                <a:solidFill>
                  <a:srgbClr val="CADCFC"/>
                </a:solidFill>
                <a:latin typeface="Franklin Gothic"/>
                <a:cs typeface="Franklin Gothic"/>
              </a:rPr>
              <a:t>PII Detection  ·  Dynamic Risk Scoring</a:t>
            </a:r>
          </a:p>
        </p:txBody>
      </p:sp>
      <p:sp>
        <p:nvSpPr>
          <p:cNvPr id="204" name="Arrow 204"/>
          <p:cNvSpPr/>
          <p:nvPr/>
        </p:nvSpPr>
        <p:spPr>
          <a:xfrm>
            <a:off x="9495000" y="2475124"/>
            <a:ext cx="260000" cy="320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Shape 205"/>
          <p:cNvSpPr/>
          <p:nvPr/>
        </p:nvSpPr>
        <p:spPr>
          <a:xfrm>
            <a:off x="7150000" y="2835124"/>
            <a:ext cx="1550000" cy="8200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txBody>
          <a:bodyPr wrap="square" lIns="22860" tIns="22860" rIns="2286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Franklin Gothic"/>
                <a:cs typeface="Franklin Gothic"/>
              </a:rPr>
              <a:t>LOW RISK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Franklin Gothic"/>
                <a:cs typeface="Franklin Gothic"/>
              </a:rPr>
              <a:t>ALLOW</a:t>
            </a:r>
          </a:p>
        </p:txBody>
      </p:sp>
      <p:sp>
        <p:nvSpPr>
          <p:cNvPr id="206" name="Shape 206"/>
          <p:cNvSpPr/>
          <p:nvPr/>
        </p:nvSpPr>
        <p:spPr>
          <a:xfrm>
            <a:off x="8850000" y="2835124"/>
            <a:ext cx="1550000" cy="820000"/>
          </a:xfrm>
          <a:prstGeom prst="roundRect">
            <a:avLst>
              <a:gd name="adj" fmla="val 10000"/>
            </a:avLst>
          </a:prstGeom>
          <a:solidFill>
            <a:srgbClr val="E08E00"/>
          </a:solidFill>
          <a:ln>
            <a:noFill/>
          </a:ln>
        </p:spPr>
        <p:txBody>
          <a:bodyPr wrap="square" lIns="22860" tIns="22860" rIns="2286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Franklin Gothic"/>
                <a:cs typeface="Franklin Gothic"/>
              </a:rPr>
              <a:t>MEDIUM RISK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Franklin Gothic"/>
                <a:cs typeface="Franklin Gothic"/>
              </a:rPr>
              <a:t>WARN &amp; PROCEED</a:t>
            </a:r>
          </a:p>
        </p:txBody>
      </p:sp>
      <p:sp>
        <p:nvSpPr>
          <p:cNvPr id="207" name="Shape 207"/>
          <p:cNvSpPr/>
          <p:nvPr/>
        </p:nvSpPr>
        <p:spPr>
          <a:xfrm>
            <a:off x="10550000" y="2835124"/>
            <a:ext cx="1550000" cy="820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txBody>
          <a:bodyPr wrap="square" lIns="22860" tIns="22860" rIns="2286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Franklin Gothic"/>
                <a:cs typeface="Franklin Gothic"/>
              </a:rPr>
              <a:t>HIGH RISK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Franklin Gothic"/>
                <a:cs typeface="Franklin Gothic"/>
              </a:rPr>
              <a:t>HUMAN REVIEW</a:t>
            </a:r>
          </a:p>
        </p:txBody>
      </p:sp>
      <p:sp>
        <p:nvSpPr>
          <p:cNvPr id="208" name="Arrow 208"/>
          <p:cNvSpPr/>
          <p:nvPr/>
        </p:nvSpPr>
        <p:spPr>
          <a:xfrm>
            <a:off x="9495000" y="3675124"/>
            <a:ext cx="260000" cy="320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41A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Shape 209"/>
          <p:cNvSpPr/>
          <p:nvPr/>
        </p:nvSpPr>
        <p:spPr>
          <a:xfrm>
            <a:off x="7150000" y="4015124"/>
            <a:ext cx="4950000" cy="720000"/>
          </a:xfrm>
          <a:prstGeom prst="roundRect">
            <a:avLst>
              <a:gd name="adj" fmla="val 10000"/>
            </a:avLst>
          </a:prstGeom>
          <a:solidFill>
            <a:srgbClr val="141A3D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Franklin Gothic"/>
                <a:cs typeface="Franklin Gothic"/>
              </a:rPr>
              <a:t>AUDIT LOG &amp; COMPLIANCE</a:t>
            </a:r>
          </a:p>
          <a:p>
            <a:pPr algn="ctr"/>
            <a:r>
              <a:rPr lang="en-US" sz="1000" i="1" dirty="0">
                <a:solidFill>
                  <a:srgbClr val="CADCFC"/>
                </a:solidFill>
                <a:latin typeface="Franklin Gothic"/>
                <a:cs typeface="Franklin Gothic"/>
              </a:rPr>
              <a:t>Every decision logged · NIST AI RMF &amp; ISO/IEC 42001 ready</a:t>
            </a:r>
          </a:p>
        </p:txBody>
      </p:sp>
      <p:sp>
        <p:nvSpPr>
          <p:cNvPr id="210" name="Shape 210"/>
          <p:cNvSpPr/>
          <p:nvPr/>
        </p:nvSpPr>
        <p:spPr>
          <a:xfrm>
            <a:off x="7150000" y="5015124"/>
            <a:ext cx="4950000" cy="980000"/>
          </a:xfrm>
          <a:prstGeom prst="roundRect">
            <a:avLst>
              <a:gd name="adj" fmla="val 6000"/>
            </a:avLst>
          </a:prstGeom>
          <a:solidFill>
            <a:srgbClr val="EDF1FB"/>
          </a:solidFill>
          <a:ln>
            <a:noFill/>
          </a:ln>
        </p:spPr>
        <p:txBody>
          <a:bodyPr wrap="square" lIns="137160" tIns="45720" rIns="137160" bIns="4572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Franklin Gothic"/>
                <a:cs typeface="Franklin Gothic"/>
              </a:rPr>
              <a:t>WHY IT'S DIFFERENT</a:t>
            </a:r>
          </a:p>
          <a:p>
            <a:pPr algn="ctr"/>
            <a:r>
              <a:rPr lang="en-US" sz="1050" i="1" dirty="0">
                <a:solidFill>
                  <a:srgbClr val="1A1A1A"/>
                </a:solidFill>
                <a:latin typeface="Franklin Gothic"/>
                <a:cs typeface="Franklin Gothic"/>
              </a:rPr>
              <a:t>Tiered human-in-the-loop enforcement, not just detection — with an audit-ready compliance trail out of the box.</a:t>
            </a:r>
          </a:p>
        </p:txBody>
      </p:sp>
      <p:sp>
        <p:nvSpPr>
          <p:cNvPr id="211" name="TechCard"/>
          <p:cNvSpPr/>
          <p:nvPr/>
        </p:nvSpPr>
        <p:spPr>
          <a:xfrm>
            <a:off x="94228" y="4950000"/>
            <a:ext cx="6900000" cy="1200000"/>
          </a:xfrm>
          <a:prstGeom prst="roundRect">
            <a:avLst>
              <a:gd name="adj" fmla="val 5000"/>
            </a:avLst>
          </a:prstGeom>
          <a:solidFill>
            <a:srgbClr val="F7F9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Shape 212"/>
          <p:cNvSpPr/>
          <p:nvPr/>
        </p:nvSpPr>
        <p:spPr>
          <a:xfrm>
            <a:off x="184228" y="4990000"/>
            <a:ext cx="672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200" b="1" dirty="0">
                <a:solidFill>
                  <a:srgbClr val="1E2761"/>
                </a:solidFill>
                <a:latin typeface="Franklin Gothic"/>
                <a:cs typeface="Franklin Gothic"/>
              </a:rPr>
              <a:t>TECHNOLOGY STACK</a:t>
            </a:r>
          </a:p>
        </p:txBody>
      </p:sp>
      <p:sp>
        <p:nvSpPr>
          <p:cNvPr id="213" name="Tech 213"/>
          <p:cNvSpPr/>
          <p:nvPr/>
        </p:nvSpPr>
        <p:spPr>
          <a:xfrm>
            <a:off x="184228" y="5270000"/>
            <a:ext cx="3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Frontend: </a:t>
            </a:r>
            <a:r>
              <a:rPr lang="en-US" sz="1100" dirty="0">
                <a:solidFill>
                  <a:srgbClr val="4A4A4A"/>
                </a:solidFill>
                <a:latin typeface="Franklin Gothic"/>
                <a:cs typeface="Franklin Gothic"/>
              </a:rPr>
              <a:t>React.js, HTML/CSS/JS</a:t>
            </a:r>
          </a:p>
        </p:txBody>
      </p:sp>
      <p:sp>
        <p:nvSpPr>
          <p:cNvPr id="214" name="Tech 214"/>
          <p:cNvSpPr/>
          <p:nvPr/>
        </p:nvSpPr>
        <p:spPr>
          <a:xfrm>
            <a:off x="3544228" y="5270000"/>
            <a:ext cx="3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Backend: </a:t>
            </a:r>
            <a:r>
              <a:rPr lang="en-US" sz="1100" dirty="0">
                <a:solidFill>
                  <a:srgbClr val="4A4A4A"/>
                </a:solidFill>
                <a:latin typeface="Franklin Gothic"/>
                <a:cs typeface="Franklin Gothic"/>
              </a:rPr>
              <a:t>Python, FastAPI, Vanta API</a:t>
            </a:r>
          </a:p>
        </p:txBody>
      </p:sp>
      <p:sp>
        <p:nvSpPr>
          <p:cNvPr id="215" name="Tech 215"/>
          <p:cNvSpPr/>
          <p:nvPr/>
        </p:nvSpPr>
        <p:spPr>
          <a:xfrm>
            <a:off x="184228" y="5550000"/>
            <a:ext cx="3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AI &amp; NLP: </a:t>
            </a:r>
            <a:r>
              <a:rPr lang="en-US" sz="1100" dirty="0">
                <a:solidFill>
                  <a:srgbClr val="4A4A4A"/>
                </a:solidFill>
                <a:latin typeface="Franklin Gothic"/>
                <a:cs typeface="Franklin Gothic"/>
              </a:rPr>
              <a:t>Presidio, spaCy, CES</a:t>
            </a:r>
          </a:p>
        </p:txBody>
      </p:sp>
      <p:sp>
        <p:nvSpPr>
          <p:cNvPr id="216" name="Tech 216"/>
          <p:cNvSpPr/>
          <p:nvPr/>
        </p:nvSpPr>
        <p:spPr>
          <a:xfrm>
            <a:off x="3544228" y="5550000"/>
            <a:ext cx="3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Risk Engine: </a:t>
            </a:r>
            <a:r>
              <a:rPr lang="en-US" sz="1100" dirty="0">
                <a:solidFill>
                  <a:srgbClr val="4A4A4A"/>
                </a:solidFill>
                <a:latin typeface="Franklin Gothic"/>
                <a:cs typeface="Franklin Gothic"/>
              </a:rPr>
              <a:t>Openlayer (Roverreliance™)</a:t>
            </a:r>
          </a:p>
        </p:txBody>
      </p:sp>
      <p:sp>
        <p:nvSpPr>
          <p:cNvPr id="217" name="Tech 217"/>
          <p:cNvSpPr/>
          <p:nvPr/>
        </p:nvSpPr>
        <p:spPr>
          <a:xfrm>
            <a:off x="184228" y="5830000"/>
            <a:ext cx="3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Database: </a:t>
            </a:r>
            <a:r>
              <a:rPr lang="en-US" sz="1100" dirty="0">
                <a:solidFill>
                  <a:srgbClr val="4A4A4A"/>
                </a:solidFill>
                <a:latin typeface="Franklin Gothic"/>
                <a:cs typeface="Franklin Gothic"/>
              </a:rPr>
              <a:t>MongoDB / PostgreSQL</a:t>
            </a:r>
          </a:p>
        </p:txBody>
      </p:sp>
      <p:sp>
        <p:nvSpPr>
          <p:cNvPr id="218" name="Tech 218"/>
          <p:cNvSpPr/>
          <p:nvPr/>
        </p:nvSpPr>
        <p:spPr>
          <a:xfrm>
            <a:off x="3544228" y="5830000"/>
            <a:ext cx="3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Dashboard: </a:t>
            </a:r>
            <a:r>
              <a:rPr lang="en-US" sz="1100" dirty="0">
                <a:solidFill>
                  <a:srgbClr val="4A4A4A"/>
                </a:solidFill>
                <a:latin typeface="Franklin Gothic"/>
                <a:cs typeface="Franklin Gothic"/>
              </a:rPr>
              <a:t>Chart.js /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-10796" y="1140006"/>
            <a:ext cx="5466079" cy="4577988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IT &amp; Software Companies: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Blocks hallucinated code and shadow AI data leaks.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Banking &amp; Financial Services: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Masks PAN, Aadhaar &amp; account numbers in real-time.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Healthcare: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Forces manual verification of AI-generated diagnostics.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Legal &amp; Compliance Teams: </a:t>
            </a:r>
            <a:r>
              <a:rPr lang="it-IT" sz="1400" dirty="0">
                <a:solidFill>
                  <a:srgbClr val="1A1A1A"/>
                </a:solidFill>
                <a:latin typeface="Franklin Gothic"/>
                <a:cs typeface="Franklin Gothic"/>
              </a:rPr>
              <a:t>Auto-generates NIST AI RMF &amp; ISO/IEC 42001 audit logs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Human Resources: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Prevents PII leaks and enforces human-in-the-loop checks.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Government &amp; Public Sector: </a:t>
            </a:r>
            <a:r>
              <a:rPr lang="en-US" sz="1400" dirty="0">
                <a:solidFill>
                  <a:srgbClr val="1A1A1A"/>
                </a:solidFill>
                <a:latin typeface="Franklin Gothic"/>
                <a:cs typeface="Franklin Gothic"/>
              </a:rPr>
              <a:t>Intercepts malicious prompts and hallucinated policy outputs.</a:t>
            </a:r>
          </a:p>
        </p:txBody>
      </p:sp>
      <p:sp>
        <p:nvSpPr>
          <p:cNvPr id="139" name="Google Shape;139;p3"/>
          <p:cNvSpPr txBox="1">
            <a:spLocks noGrp="1"/>
          </p:cNvSpPr>
          <p:nvPr>
            <p:ph type="body" idx="2"/>
          </p:nvPr>
        </p:nvSpPr>
        <p:spPr>
          <a:xfrm>
            <a:off x="7390" y="66710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400" b="1" dirty="0">
                <a:solidFill>
                  <a:srgbClr val="1E2761"/>
                </a:solidFill>
                <a:latin typeface="Franklin Gothic"/>
                <a:cs typeface="Franklin Gothic"/>
              </a:rPr>
              <a:t>USE CASES ACROSS INDUSTRIES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140" name="Google Shape;14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sp>
        <p:nvSpPr>
          <p:cNvPr id="141" name="Google Shape;141;p3"/>
          <p:cNvSpPr txBox="1"/>
          <p:nvPr/>
        </p:nvSpPr>
        <p:spPr>
          <a:xfrm>
            <a:off x="5466079" y="609889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E276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DEPENDENCIES &amp; SHOW STOPPERS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5550394" y="1200291"/>
            <a:ext cx="6411192" cy="559684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1E2761"/>
                </a:solidFill>
                <a:latin typeface="Franklin Gothic"/>
                <a:cs typeface="Franklin Gothic"/>
              </a:rPr>
              <a:t>DEPENDENCIES</a:t>
            </a:r>
            <a:endParaRPr lang="en-US" sz="1600" b="1" dirty="0">
              <a:solidFill>
                <a:srgbClr val="1E2761"/>
              </a:solidFill>
              <a:latin typeface="Franklin Gothic"/>
              <a:cs typeface="Franklin Gothic"/>
            </a:endParaRP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Franklin Gothic"/>
                <a:cs typeface="Franklin Gothic"/>
              </a:rPr>
              <a:t>AI &amp; NLP Core: </a:t>
            </a: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Microsoft Presidio &amp; </a:t>
            </a:r>
            <a:r>
              <a:rPr lang="en-US" sz="1300" dirty="0" err="1">
                <a:solidFill>
                  <a:srgbClr val="1A1A1A"/>
                </a:solidFill>
                <a:latin typeface="Franklin Gothic"/>
                <a:cs typeface="Franklin Gothic"/>
              </a:rPr>
              <a:t>spaCy</a:t>
            </a: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 for real-time PII detection.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Franklin Gothic"/>
                <a:cs typeface="Franklin Gothic"/>
              </a:rPr>
              <a:t>Hallucination Engine: </a:t>
            </a: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CES + Linear Probes for sub-second detection.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Franklin Gothic"/>
                <a:cs typeface="Franklin Gothic"/>
              </a:rPr>
              <a:t>Risk &amp; Compliance Backend: </a:t>
            </a:r>
            <a:r>
              <a:rPr lang="en-US" sz="1300" dirty="0" err="1">
                <a:solidFill>
                  <a:srgbClr val="1A1A1A"/>
                </a:solidFill>
                <a:latin typeface="Franklin Gothic"/>
                <a:cs typeface="Franklin Gothic"/>
              </a:rPr>
              <a:t>Openlayer</a:t>
            </a: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 (</a:t>
            </a:r>
            <a:r>
              <a:rPr lang="en-US" sz="1300" dirty="0" err="1">
                <a:solidFill>
                  <a:srgbClr val="1A1A1A"/>
                </a:solidFill>
                <a:latin typeface="Franklin Gothic"/>
                <a:cs typeface="Franklin Gothic"/>
              </a:rPr>
              <a:t>Roverreliance</a:t>
            </a: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™) + Vanta API for audit logging.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Franklin Gothic"/>
                <a:cs typeface="Franklin Gothic"/>
              </a:rPr>
              <a:t>Infrastructure: </a:t>
            </a:r>
            <a:r>
              <a:rPr lang="it-IT" sz="1300" dirty="0">
                <a:solidFill>
                  <a:srgbClr val="1A1A1A"/>
                </a:solidFill>
                <a:latin typeface="Franklin Gothic"/>
                <a:cs typeface="Franklin Gothic"/>
              </a:rPr>
              <a:t>Generative AI APIs, RBAC, MongoDB/PostgreSQL</a:t>
            </a: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000" b="1" dirty="0">
                <a:solidFill>
                  <a:srgbClr val="C62828"/>
                </a:solidFill>
                <a:latin typeface="Franklin Gothic"/>
                <a:cs typeface="Franklin Gothic"/>
              </a:rPr>
              <a:t>POTENTIAL SHOW STOPPERS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C62828"/>
              </a:buClr>
              <a:buFont typeface="Arial"/>
              <a:buChar char="●"/>
            </a:pP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False positives / negatives in sensitive-data detection.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C62828"/>
              </a:buClr>
              <a:buFont typeface="Arial"/>
              <a:buChar char="●"/>
            </a:pP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Hallucinations may still require manual verification.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C62828"/>
              </a:buClr>
              <a:buFont typeface="Arial"/>
              <a:buChar char="●"/>
            </a:pP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Integration challenges with existing enterprise platforms.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C62828"/>
              </a:buClr>
              <a:buFont typeface="Arial"/>
              <a:buChar char="●"/>
            </a:pP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Compliance requirements vary across industries &amp; countries.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C62828"/>
              </a:buClr>
              <a:buFont typeface="Arial"/>
              <a:buChar char="●"/>
            </a:pPr>
            <a:r>
              <a:rPr lang="en-US" sz="1300" dirty="0">
                <a:solidFill>
                  <a:srgbClr val="1A1A1A"/>
                </a:solidFill>
                <a:latin typeface="Franklin Gothic"/>
                <a:cs typeface="Franklin Gothic"/>
              </a:rPr>
              <a:t>High request volumes need scalable cloud infrastructure.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ADE5C1-BA13-B046-4F2E-A109E6EFBFA9}"/>
              </a:ext>
            </a:extLst>
          </p:cNvPr>
          <p:cNvCxnSpPr>
            <a:cxnSpLocks/>
          </p:cNvCxnSpPr>
          <p:nvPr/>
        </p:nvCxnSpPr>
        <p:spPr>
          <a:xfrm flipH="1">
            <a:off x="5455283" y="589428"/>
            <a:ext cx="10796" cy="46097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BF9CF1-0762-570E-2E22-096928B63726}"/>
              </a:ext>
            </a:extLst>
          </p:cNvPr>
          <p:cNvCxnSpPr/>
          <p:nvPr/>
        </p:nvCxnSpPr>
        <p:spPr>
          <a:xfrm>
            <a:off x="0" y="5199171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A664B6-CDD6-01A3-67C5-1B5C573030B9}"/>
              </a:ext>
            </a:extLst>
          </p:cNvPr>
          <p:cNvCxnSpPr/>
          <p:nvPr/>
        </p:nvCxnSpPr>
        <p:spPr>
          <a:xfrm>
            <a:off x="0" y="589428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BBCFC9FA-3520-9D88-DF25-8D80F08B0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797" y="5219631"/>
            <a:ext cx="7567003" cy="1638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566ffcac09_0_0"/>
          <p:cNvSpPr txBox="1">
            <a:spLocks noGrp="1"/>
          </p:cNvSpPr>
          <p:nvPr>
            <p:ph type="title"/>
          </p:nvPr>
        </p:nvSpPr>
        <p:spPr>
          <a:xfrm>
            <a:off x="365676" y="177175"/>
            <a:ext cx="65154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/>
              <a:t>Effort, Cost and Time line</a:t>
            </a:r>
            <a:endParaRPr dirty="0"/>
          </a:p>
        </p:txBody>
      </p:sp>
      <p:sp>
        <p:nvSpPr>
          <p:cNvPr id="149" name="Google Shape;149;g2566ffcac09_0_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01" name="Chevron 1001"/>
          <p:cNvSpPr/>
          <p:nvPr/>
        </p:nvSpPr>
        <p:spPr>
          <a:xfrm>
            <a:off x="365676" y="950000"/>
            <a:ext cx="1975108" cy="900000"/>
          </a:xfrm>
          <a:prstGeom prst="chevron">
            <a:avLst>
              <a:gd name="adj" fmla="val 32000"/>
            </a:avLst>
          </a:prstGeom>
          <a:solidFill>
            <a:srgbClr val="1E2761"/>
          </a:solidFill>
          <a:ln>
            <a:noFill/>
          </a:ln>
        </p:spPr>
        <p:txBody>
          <a:bodyPr wrap="square" lIns="60960" tIns="22860" rIns="15000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CADCFC"/>
                </a:solidFill>
                <a:latin typeface="Franklin Gothic"/>
                <a:cs typeface="Franklin Gothic"/>
              </a:rPr>
              <a:t>WEEK 1</a:t>
            </a:r>
          </a:p>
          <a:p>
            <a:pPr algn="ctr"/>
            <a:r>
              <a:rPr lang="en-US" sz="950" dirty="0">
                <a:solidFill>
                  <a:srgbClr val="FFFFFF"/>
                </a:solidFill>
                <a:latin typeface="Franklin Gothic"/>
                <a:cs typeface="Franklin Gothic"/>
              </a:rPr>
              <a:t>Requirement Analysis &amp; Planning</a:t>
            </a:r>
          </a:p>
        </p:txBody>
      </p:sp>
      <p:sp>
        <p:nvSpPr>
          <p:cNvPr id="1002" name="Chevron 1002"/>
          <p:cNvSpPr/>
          <p:nvPr/>
        </p:nvSpPr>
        <p:spPr>
          <a:xfrm>
            <a:off x="2280784" y="950000"/>
            <a:ext cx="1975108" cy="900000"/>
          </a:xfrm>
          <a:prstGeom prst="chevron">
            <a:avLst>
              <a:gd name="adj" fmla="val 32000"/>
            </a:avLst>
          </a:prstGeom>
          <a:solidFill>
            <a:srgbClr val="141A3D"/>
          </a:solidFill>
          <a:ln>
            <a:noFill/>
          </a:ln>
        </p:spPr>
        <p:txBody>
          <a:bodyPr wrap="square" lIns="60960" tIns="22860" rIns="15000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CADCFC"/>
                </a:solidFill>
                <a:latin typeface="Franklin Gothic"/>
                <a:cs typeface="Franklin Gothic"/>
              </a:rPr>
              <a:t>WEEK 2</a:t>
            </a:r>
          </a:p>
          <a:p>
            <a:pPr algn="ctr"/>
            <a:r>
              <a:rPr lang="en-US" sz="950" dirty="0">
                <a:solidFill>
                  <a:srgbClr val="FFFFFF"/>
                </a:solidFill>
                <a:latin typeface="Franklin Gothic"/>
                <a:cs typeface="Franklin Gothic"/>
              </a:rPr>
              <a:t>UI/UX Design</a:t>
            </a:r>
          </a:p>
        </p:txBody>
      </p:sp>
      <p:sp>
        <p:nvSpPr>
          <p:cNvPr id="1003" name="Chevron 1003"/>
          <p:cNvSpPr/>
          <p:nvPr/>
        </p:nvSpPr>
        <p:spPr>
          <a:xfrm>
            <a:off x="4195892" y="950000"/>
            <a:ext cx="1975108" cy="900000"/>
          </a:xfrm>
          <a:prstGeom prst="chevron">
            <a:avLst>
              <a:gd name="adj" fmla="val 32000"/>
            </a:avLst>
          </a:prstGeom>
          <a:solidFill>
            <a:srgbClr val="1E2761"/>
          </a:solidFill>
          <a:ln>
            <a:noFill/>
          </a:ln>
        </p:spPr>
        <p:txBody>
          <a:bodyPr wrap="square" lIns="60960" tIns="22860" rIns="15000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CADCFC"/>
                </a:solidFill>
                <a:latin typeface="Franklin Gothic"/>
                <a:cs typeface="Franklin Gothic"/>
              </a:rPr>
              <a:t>WEEK 3</a:t>
            </a:r>
          </a:p>
          <a:p>
            <a:pPr algn="ctr"/>
            <a:r>
              <a:rPr lang="en-US" sz="950" dirty="0">
                <a:solidFill>
                  <a:srgbClr val="FFFFFF"/>
                </a:solidFill>
                <a:latin typeface="Franklin Gothic"/>
                <a:cs typeface="Franklin Gothic"/>
              </a:rPr>
              <a:t>Backend &amp; Database Development</a:t>
            </a:r>
          </a:p>
        </p:txBody>
      </p:sp>
      <p:sp>
        <p:nvSpPr>
          <p:cNvPr id="1004" name="Chevron 1004"/>
          <p:cNvSpPr/>
          <p:nvPr/>
        </p:nvSpPr>
        <p:spPr>
          <a:xfrm>
            <a:off x="6111000" y="950000"/>
            <a:ext cx="1975108" cy="900000"/>
          </a:xfrm>
          <a:prstGeom prst="chevron">
            <a:avLst>
              <a:gd name="adj" fmla="val 32000"/>
            </a:avLst>
          </a:prstGeom>
          <a:solidFill>
            <a:srgbClr val="141A3D"/>
          </a:solidFill>
          <a:ln>
            <a:noFill/>
          </a:ln>
        </p:spPr>
        <p:txBody>
          <a:bodyPr wrap="square" lIns="60960" tIns="22860" rIns="15000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CADCFC"/>
                </a:solidFill>
                <a:latin typeface="Franklin Gothic"/>
                <a:cs typeface="Franklin Gothic"/>
              </a:rPr>
              <a:t>WEEK 4</a:t>
            </a:r>
          </a:p>
          <a:p>
            <a:pPr algn="ctr"/>
            <a:r>
              <a:rPr lang="en-US" sz="950" dirty="0">
                <a:solidFill>
                  <a:srgbClr val="FFFFFF"/>
                </a:solidFill>
                <a:latin typeface="Franklin Gothic"/>
                <a:cs typeface="Franklin Gothic"/>
              </a:rPr>
              <a:t>AI Integration &amp; Policy Engine</a:t>
            </a:r>
          </a:p>
        </p:txBody>
      </p:sp>
      <p:sp>
        <p:nvSpPr>
          <p:cNvPr id="1005" name="Chevron 1005"/>
          <p:cNvSpPr/>
          <p:nvPr/>
        </p:nvSpPr>
        <p:spPr>
          <a:xfrm>
            <a:off x="8026108" y="950000"/>
            <a:ext cx="1975108" cy="900000"/>
          </a:xfrm>
          <a:prstGeom prst="chevron">
            <a:avLst>
              <a:gd name="adj" fmla="val 32000"/>
            </a:avLst>
          </a:prstGeom>
          <a:solidFill>
            <a:srgbClr val="1E2761"/>
          </a:solidFill>
          <a:ln>
            <a:noFill/>
          </a:ln>
        </p:spPr>
        <p:txBody>
          <a:bodyPr wrap="square" lIns="60960" tIns="22860" rIns="15000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CADCFC"/>
                </a:solidFill>
                <a:latin typeface="Franklin Gothic"/>
                <a:cs typeface="Franklin Gothic"/>
              </a:rPr>
              <a:t>WEEK 5</a:t>
            </a:r>
          </a:p>
          <a:p>
            <a:pPr algn="ctr"/>
            <a:r>
              <a:rPr lang="en-US" sz="950" dirty="0">
                <a:solidFill>
                  <a:srgbClr val="FFFFFF"/>
                </a:solidFill>
                <a:latin typeface="Franklin Gothic"/>
                <a:cs typeface="Franklin Gothic"/>
              </a:rPr>
              <a:t>Testing &amp; Bug Fixes</a:t>
            </a:r>
          </a:p>
        </p:txBody>
      </p:sp>
      <p:sp>
        <p:nvSpPr>
          <p:cNvPr id="1006" name="Chevron 1006"/>
          <p:cNvSpPr/>
          <p:nvPr/>
        </p:nvSpPr>
        <p:spPr>
          <a:xfrm>
            <a:off x="9941216" y="950000"/>
            <a:ext cx="1975108" cy="900000"/>
          </a:xfrm>
          <a:prstGeom prst="chevron">
            <a:avLst>
              <a:gd name="adj" fmla="val 32000"/>
            </a:avLst>
          </a:prstGeom>
          <a:solidFill>
            <a:srgbClr val="141A3D"/>
          </a:solidFill>
          <a:ln>
            <a:noFill/>
          </a:ln>
        </p:spPr>
        <p:txBody>
          <a:bodyPr wrap="square" lIns="60960" tIns="22860" rIns="150000" bIns="22860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rgbClr val="CADCFC"/>
                </a:solidFill>
                <a:latin typeface="Franklin Gothic"/>
                <a:cs typeface="Franklin Gothic"/>
              </a:rPr>
              <a:t>WEEK 6</a:t>
            </a:r>
          </a:p>
          <a:p>
            <a:pPr algn="ctr"/>
            <a:r>
              <a:rPr lang="en-US" sz="950" dirty="0">
                <a:solidFill>
                  <a:srgbClr val="FFFFFF"/>
                </a:solidFill>
                <a:latin typeface="Franklin Gothic"/>
                <a:cs typeface="Franklin Gothic"/>
              </a:rPr>
              <a:t>Deployment &amp; Final Documentation</a:t>
            </a:r>
          </a:p>
        </p:txBody>
      </p:sp>
      <p:sp>
        <p:nvSpPr>
          <p:cNvPr id="1007" name="Shape 1007"/>
          <p:cNvSpPr/>
          <p:nvPr/>
        </p:nvSpPr>
        <p:spPr>
          <a:xfrm>
            <a:off x="365676" y="2100000"/>
            <a:ext cx="5605324" cy="2300000"/>
          </a:xfrm>
          <a:prstGeom prst="roundRect">
            <a:avLst>
              <a:gd name="adj" fmla="val 5000"/>
            </a:avLst>
          </a:prstGeom>
          <a:solidFill>
            <a:srgbClr val="F7F9FE"/>
          </a:solidFill>
          <a:ln w="9525">
            <a:solidFill>
              <a:srgbClr val="CADCFC"/>
            </a:solidFill>
          </a:ln>
        </p:spPr>
        <p:txBody>
          <a:bodyPr wrap="square" lIns="45720" tIns="22860" rIns="45720" bIns="22860" anchor="ctr" anchorCtr="0">
            <a:noAutofit/>
          </a:bodyPr>
          <a:lstStyle/>
          <a:p>
            <a:endParaRPr/>
          </a:p>
        </p:txBody>
      </p:sp>
      <p:sp>
        <p:nvSpPr>
          <p:cNvPr id="1008" name="Text 1008"/>
          <p:cNvSpPr txBox="1"/>
          <p:nvPr/>
        </p:nvSpPr>
        <p:spPr>
          <a:xfrm>
            <a:off x="545676" y="2220000"/>
            <a:ext cx="5245324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DEVELOPMENT EFFORT</a:t>
            </a:r>
          </a:p>
        </p:txBody>
      </p:sp>
      <p:sp>
        <p:nvSpPr>
          <p:cNvPr id="1009" name="DevText"/>
          <p:cNvSpPr txBox="1"/>
          <p:nvPr/>
        </p:nvSpPr>
        <p:spPr>
          <a:xfrm>
            <a:off x="545676" y="2620000"/>
            <a:ext cx="5245324" cy="1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Frontend: </a:t>
            </a:r>
            <a:r>
              <a:rPr lang="en-US" sz="1150" dirty="0">
                <a:solidFill>
                  <a:srgbClr val="1A1A1A"/>
                </a:solidFill>
                <a:latin typeface="Franklin Gothic"/>
                <a:cs typeface="Franklin Gothic"/>
              </a:rPr>
              <a:t>Real-time interceptor layer, centralized dashboard, and Intentional Friction UI (confidence heatmaps).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Backend: </a:t>
            </a:r>
            <a:r>
              <a:rPr lang="en-US" sz="1150" dirty="0">
                <a:solidFill>
                  <a:srgbClr val="1A1A1A"/>
                </a:solidFill>
                <a:latin typeface="Franklin Gothic"/>
                <a:cs typeface="Franklin Gothic"/>
              </a:rPr>
              <a:t>API integration for the Policy-as-Code engine, authentication, and continuous audit logging.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AI &amp; Security: </a:t>
            </a:r>
            <a:r>
              <a:rPr lang="en-US" sz="1150" dirty="0">
                <a:solidFill>
                  <a:srgbClr val="1A1A1A"/>
                </a:solidFill>
                <a:latin typeface="Franklin Gothic"/>
                <a:cs typeface="Franklin Gothic"/>
              </a:rPr>
              <a:t>PII detection, Roverreliance™ risk classification engine, and hallucination telemetry setup.</a:t>
            </a:r>
          </a:p>
        </p:txBody>
      </p:sp>
      <p:sp>
        <p:nvSpPr>
          <p:cNvPr id="1010" name="Shape 1010"/>
          <p:cNvSpPr/>
          <p:nvPr/>
        </p:nvSpPr>
        <p:spPr>
          <a:xfrm>
            <a:off x="6221000" y="2100000"/>
            <a:ext cx="5605324" cy="2300000"/>
          </a:xfrm>
          <a:prstGeom prst="roundRect">
            <a:avLst>
              <a:gd name="adj" fmla="val 5000"/>
            </a:avLst>
          </a:prstGeom>
          <a:solidFill>
            <a:srgbClr val="F7F9FE"/>
          </a:solidFill>
          <a:ln w="9525">
            <a:solidFill>
              <a:srgbClr val="CADCFC"/>
            </a:solidFill>
          </a:ln>
        </p:spPr>
        <p:txBody>
          <a:bodyPr wrap="square" lIns="45720" tIns="22860" rIns="45720" bIns="22860" anchor="ctr" anchorCtr="0">
            <a:noAutofit/>
          </a:bodyPr>
          <a:lstStyle/>
          <a:p>
            <a:endParaRPr/>
          </a:p>
        </p:txBody>
      </p:sp>
      <p:sp>
        <p:nvSpPr>
          <p:cNvPr id="1011" name="Text 1011"/>
          <p:cNvSpPr txBox="1"/>
          <p:nvPr/>
        </p:nvSpPr>
        <p:spPr>
          <a:xfrm>
            <a:off x="6401000" y="2220000"/>
            <a:ext cx="5245324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ESTIMATED COST</a:t>
            </a:r>
          </a:p>
        </p:txBody>
      </p:sp>
      <p:sp>
        <p:nvSpPr>
          <p:cNvPr id="1012" name="Cost 1012"/>
          <p:cNvSpPr txBox="1"/>
          <p:nvPr/>
        </p:nvSpPr>
        <p:spPr>
          <a:xfrm>
            <a:off x="6401000" y="2660000"/>
            <a:ext cx="52453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Development Tools: </a:t>
            </a:r>
            <a:r>
              <a:rPr lang="en-US" sz="1150" dirty="0">
                <a:solidFill>
                  <a:srgbClr val="4A4A4A"/>
                </a:solidFill>
                <a:latin typeface="Franklin Gothic"/>
                <a:cs typeface="Franklin Gothic"/>
              </a:rPr>
              <a:t>Open Source</a:t>
            </a:r>
          </a:p>
        </p:txBody>
      </p:sp>
      <p:sp>
        <p:nvSpPr>
          <p:cNvPr id="1013" name="Cost 1013"/>
          <p:cNvSpPr txBox="1"/>
          <p:nvPr/>
        </p:nvSpPr>
        <p:spPr>
          <a:xfrm>
            <a:off x="6401000" y="2960000"/>
            <a:ext cx="52453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Microsoft Presidio: </a:t>
            </a:r>
            <a:r>
              <a:rPr lang="en-US" sz="1150" dirty="0">
                <a:solidFill>
                  <a:srgbClr val="4A4A4A"/>
                </a:solidFill>
                <a:latin typeface="Franklin Gothic"/>
                <a:cs typeface="Franklin Gothic"/>
              </a:rPr>
              <a:t>Open Source</a:t>
            </a:r>
          </a:p>
        </p:txBody>
      </p:sp>
      <p:sp>
        <p:nvSpPr>
          <p:cNvPr id="1014" name="Cost 1014"/>
          <p:cNvSpPr txBox="1"/>
          <p:nvPr/>
        </p:nvSpPr>
        <p:spPr>
          <a:xfrm>
            <a:off x="6401000" y="3260000"/>
            <a:ext cx="52453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React, FastAPI, Python: </a:t>
            </a:r>
            <a:r>
              <a:rPr lang="en-US" sz="1150" dirty="0">
                <a:solidFill>
                  <a:srgbClr val="4A4A4A"/>
                </a:solidFill>
                <a:latin typeface="Franklin Gothic"/>
                <a:cs typeface="Franklin Gothic"/>
              </a:rPr>
              <a:t>Open Source</a:t>
            </a:r>
          </a:p>
        </p:txBody>
      </p:sp>
      <p:sp>
        <p:nvSpPr>
          <p:cNvPr id="1015" name="Cost 1015"/>
          <p:cNvSpPr txBox="1"/>
          <p:nvPr/>
        </p:nvSpPr>
        <p:spPr>
          <a:xfrm>
            <a:off x="6401000" y="3560000"/>
            <a:ext cx="52453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Database (MongoDB/PostgreSQL): </a:t>
            </a:r>
            <a:r>
              <a:rPr lang="en-US" sz="1150" dirty="0">
                <a:solidFill>
                  <a:srgbClr val="4A4A4A"/>
                </a:solidFill>
                <a:latin typeface="Franklin Gothic"/>
                <a:cs typeface="Franklin Gothic"/>
              </a:rPr>
              <a:t>Open Source</a:t>
            </a:r>
          </a:p>
        </p:txBody>
      </p:sp>
      <p:sp>
        <p:nvSpPr>
          <p:cNvPr id="1016" name="Cost 1016"/>
          <p:cNvSpPr txBox="1"/>
          <p:nvPr/>
        </p:nvSpPr>
        <p:spPr>
          <a:xfrm>
            <a:off x="6401000" y="3860000"/>
            <a:ext cx="52453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Cloud Hosting (AWS/Azure): </a:t>
            </a:r>
            <a:r>
              <a:rPr lang="en-US" sz="1150" dirty="0">
                <a:solidFill>
                  <a:srgbClr val="4A4A4A"/>
                </a:solidFill>
                <a:latin typeface="Franklin Gothic"/>
                <a:cs typeface="Franklin Gothic"/>
              </a:rPr>
              <a:t>₹3,000 – ₹8,000/month</a:t>
            </a:r>
          </a:p>
        </p:txBody>
      </p:sp>
      <p:sp>
        <p:nvSpPr>
          <p:cNvPr id="1017" name="Cost 1017"/>
          <p:cNvSpPr txBox="1"/>
          <p:nvPr/>
        </p:nvSpPr>
        <p:spPr>
          <a:xfrm>
            <a:off x="6401000" y="4160000"/>
            <a:ext cx="52453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dirty="0">
                <a:solidFill>
                  <a:srgbClr val="1E2761"/>
                </a:solidFill>
                <a:latin typeface="Franklin Gothic"/>
                <a:cs typeface="Franklin Gothic"/>
              </a:rPr>
              <a:t>AI API Usage: </a:t>
            </a:r>
            <a:r>
              <a:rPr lang="en-US" sz="1150" dirty="0">
                <a:solidFill>
                  <a:srgbClr val="4A4A4A"/>
                </a:solidFill>
                <a:latin typeface="Franklin Gothic"/>
                <a:cs typeface="Franklin Gothic"/>
              </a:rPr>
              <a:t>Pay-as-you-use</a:t>
            </a:r>
          </a:p>
        </p:txBody>
      </p:sp>
      <p:sp>
        <p:nvSpPr>
          <p:cNvPr id="1018" name="Shape 1018"/>
          <p:cNvSpPr/>
          <p:nvPr/>
        </p:nvSpPr>
        <p:spPr>
          <a:xfrm>
            <a:off x="365676" y="4600000"/>
            <a:ext cx="11460648" cy="1650000"/>
          </a:xfrm>
          <a:prstGeom prst="roundRect">
            <a:avLst>
              <a:gd name="adj" fmla="val 5000"/>
            </a:avLst>
          </a:prstGeom>
          <a:solidFill>
            <a:srgbClr val="EDF1FB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endParaRPr/>
          </a:p>
        </p:txBody>
      </p:sp>
      <p:sp>
        <p:nvSpPr>
          <p:cNvPr id="1019" name="Text 1019"/>
          <p:cNvSpPr txBox="1"/>
          <p:nvPr/>
        </p:nvSpPr>
        <p:spPr>
          <a:xfrm>
            <a:off x="585676" y="4720000"/>
            <a:ext cx="11020648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EXPECTED OUTCOME</a:t>
            </a:r>
          </a:p>
        </p:txBody>
      </p:sp>
      <p:sp>
        <p:nvSpPr>
          <p:cNvPr id="1020" name="Outcome"/>
          <p:cNvSpPr txBox="1"/>
          <p:nvPr/>
        </p:nvSpPr>
        <p:spPr>
          <a:xfrm>
            <a:off x="585676" y="5100000"/>
            <a:ext cx="11020648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2E7D32"/>
              </a:buClr>
              <a:buFont typeface="Wingdings"/>
              <a:buChar char="ü"/>
            </a:pPr>
            <a:r>
              <a:rPr lang="en-US" sz="1200" dirty="0">
                <a:solidFill>
                  <a:srgbClr val="1A1A1A"/>
                </a:solidFill>
                <a:latin typeface="Franklin Gothic"/>
                <a:cs typeface="Franklin Gothic"/>
              </a:rPr>
              <a:t>A secure, highly scalable enterprise AI governance platform that actively intercepts shadow AI and modifies workforce behavior.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2E7D32"/>
              </a:buClr>
              <a:buFont typeface="Wingdings"/>
              <a:buChar char="ü"/>
            </a:pPr>
            <a:r>
              <a:rPr lang="en-US" sz="1200" dirty="0">
                <a:solidFill>
                  <a:srgbClr val="1A1A1A"/>
                </a:solidFill>
                <a:latin typeface="Franklin Gothic"/>
                <a:cs typeface="Franklin Gothic"/>
              </a:rPr>
              <a:t>Real-time mitigation of AI over-reliance and "vibe coding" vulnerabilities.</a:t>
            </a:r>
          </a:p>
          <a:p>
            <a:pPr marL="228600" indent="-228600">
              <a:lnSpc>
                <a:spcPct val="110000"/>
              </a:lnSpc>
              <a:spcBef>
                <a:spcPts val="600"/>
              </a:spcBef>
              <a:buClr>
                <a:srgbClr val="2E7D32"/>
              </a:buClr>
              <a:buFont typeface="Wingdings"/>
              <a:buChar char="ü"/>
            </a:pPr>
            <a:r>
              <a:rPr lang="en-US" sz="1200" dirty="0">
                <a:solidFill>
                  <a:srgbClr val="1A1A1A"/>
                </a:solidFill>
                <a:latin typeface="Franklin Gothic"/>
                <a:cs typeface="Franklin Gothic"/>
              </a:rPr>
              <a:t>A centralized compliance dashboard providing out-of-the-box adherence to NIST AI RMF and ISO/IEC 42001 frameworks.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74f6a20a6_0_0"/>
          <p:cNvSpPr txBox="1">
            <a:spLocks noGrp="1"/>
          </p:cNvSpPr>
          <p:nvPr>
            <p:ph type="title"/>
          </p:nvPr>
        </p:nvSpPr>
        <p:spPr>
          <a:xfrm>
            <a:off x="349283" y="277980"/>
            <a:ext cx="5556340" cy="1211883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 for Any Additions &amp; Enhancements</a:t>
            </a:r>
            <a:endParaRPr dirty="0"/>
          </a:p>
        </p:txBody>
      </p:sp>
      <p:sp>
        <p:nvSpPr>
          <p:cNvPr id="167" name="Google Shape;167;g3674f6a20a6_0_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00" cy="24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01" name="Shape 1001"/>
          <p:cNvSpPr/>
          <p:nvPr/>
        </p:nvSpPr>
        <p:spPr>
          <a:xfrm>
            <a:off x="349283" y="1650000"/>
            <a:ext cx="3664478" cy="4550000"/>
          </a:xfrm>
          <a:prstGeom prst="roundRect">
            <a:avLst>
              <a:gd name="adj" fmla="val 4000"/>
            </a:avLst>
          </a:prstGeom>
          <a:solidFill>
            <a:srgbClr val="F7F9FE"/>
          </a:solidFill>
          <a:ln w="9525">
            <a:solidFill>
              <a:srgbClr val="CADCFC"/>
            </a:solidFill>
          </a:ln>
        </p:spPr>
        <p:txBody>
          <a:bodyPr wrap="square" lIns="45720" tIns="22860" rIns="45720" bIns="22860" anchor="ctr" anchorCtr="0">
            <a:noAutofit/>
          </a:bodyPr>
          <a:lstStyle/>
          <a:p>
            <a:endParaRPr/>
          </a:p>
        </p:txBody>
      </p:sp>
      <p:sp>
        <p:nvSpPr>
          <p:cNvPr id="1002" name="Shape 1002"/>
          <p:cNvSpPr/>
          <p:nvPr/>
        </p:nvSpPr>
        <p:spPr>
          <a:xfrm>
            <a:off x="1921522" y="183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Franklin Gothic"/>
                <a:cs typeface="Franklin Gothic"/>
              </a:rPr>
              <a:t>1</a:t>
            </a:r>
          </a:p>
        </p:txBody>
      </p:sp>
      <p:sp>
        <p:nvSpPr>
          <p:cNvPr id="1003" name="Shape 1003"/>
          <p:cNvSpPr/>
          <p:nvPr/>
        </p:nvSpPr>
        <p:spPr>
          <a:xfrm>
            <a:off x="499283" y="2430000"/>
            <a:ext cx="3364478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Advanced Threat Intelligence</a:t>
            </a:r>
          </a:p>
          <a:p>
            <a:pPr algn="ctr"/>
            <a:r>
              <a:rPr lang="en-US" sz="1000" i="1" dirty="0">
                <a:solidFill>
                  <a:srgbClr val="4A4A4A"/>
                </a:solidFill>
                <a:latin typeface="Franklin Gothic"/>
                <a:cs typeface="Franklin Gothic"/>
              </a:rPr>
              <a:t>(Beyond Traditional Cybersecurity)</a:t>
            </a:r>
          </a:p>
        </p:txBody>
      </p:sp>
      <p:sp>
        <p:nvSpPr>
          <p:cNvPr id="1004" name="Sec 1004"/>
          <p:cNvSpPr txBox="1"/>
          <p:nvPr/>
        </p:nvSpPr>
        <p:spPr>
          <a:xfrm>
            <a:off x="529283" y="3330000"/>
            <a:ext cx="3304478" cy="2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2025 OWASP Top 10 for LLMs: </a:t>
            </a:r>
            <a:r>
              <a:rPr lang="en-US" sz="1100" dirty="0">
                <a:solidFill>
                  <a:srgbClr val="1A1A1A"/>
                </a:solidFill>
                <a:latin typeface="Franklin Gothic"/>
                <a:cs typeface="Franklin Gothic"/>
              </a:rPr>
              <a:t>Mitigates novel attack vectors: Prompt Injection, Model Poisoning, and Phantom Squatting.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Combating “Vibe Coding” Risks: </a:t>
            </a:r>
            <a:r>
              <a:rPr lang="en-US" sz="1100" dirty="0">
                <a:solidFill>
                  <a:srgbClr val="1A1A1A"/>
                </a:solidFill>
                <a:latin typeface="Franklin Gothic"/>
                <a:cs typeface="Franklin Gothic"/>
              </a:rPr>
              <a:t>Stops AI-generated code with absent security controls from entering the CI/CD pipeline.</a:t>
            </a:r>
          </a:p>
        </p:txBody>
      </p:sp>
      <p:sp>
        <p:nvSpPr>
          <p:cNvPr id="1005" name="Shape 1005"/>
          <p:cNvSpPr/>
          <p:nvPr/>
        </p:nvSpPr>
        <p:spPr>
          <a:xfrm>
            <a:off x="4263761" y="1650000"/>
            <a:ext cx="3664478" cy="4550000"/>
          </a:xfrm>
          <a:prstGeom prst="roundRect">
            <a:avLst>
              <a:gd name="adj" fmla="val 4000"/>
            </a:avLst>
          </a:prstGeom>
          <a:solidFill>
            <a:srgbClr val="F7F9FE"/>
          </a:solidFill>
          <a:ln w="9525">
            <a:solidFill>
              <a:srgbClr val="CADCFC"/>
            </a:solidFill>
          </a:ln>
        </p:spPr>
        <p:txBody>
          <a:bodyPr wrap="square" lIns="45720" tIns="22860" rIns="45720" bIns="22860" anchor="ctr" anchorCtr="0">
            <a:noAutofit/>
          </a:bodyPr>
          <a:lstStyle/>
          <a:p>
            <a:endParaRPr/>
          </a:p>
        </p:txBody>
      </p:sp>
      <p:sp>
        <p:nvSpPr>
          <p:cNvPr id="1006" name="Shape 1006"/>
          <p:cNvSpPr/>
          <p:nvPr/>
        </p:nvSpPr>
        <p:spPr>
          <a:xfrm>
            <a:off x="5836000" y="183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Franklin Gothic"/>
                <a:cs typeface="Franklin Gothic"/>
              </a:rPr>
              <a:t>2</a:t>
            </a:r>
          </a:p>
        </p:txBody>
      </p:sp>
      <p:sp>
        <p:nvSpPr>
          <p:cNvPr id="1007" name="Shape 1007"/>
          <p:cNvSpPr/>
          <p:nvPr/>
        </p:nvSpPr>
        <p:spPr>
          <a:xfrm>
            <a:off x="4413761" y="2430000"/>
            <a:ext cx="3364478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Modern LLMOps &amp; FinOps Guardrails</a:t>
            </a:r>
          </a:p>
          <a:p>
            <a:pPr algn="ctr"/>
            <a:r>
              <a:rPr lang="en-US" sz="1000" i="1" dirty="0">
                <a:solidFill>
                  <a:srgbClr val="4A4A4A"/>
                </a:solidFill>
                <a:latin typeface="Franklin Gothic"/>
                <a:cs typeface="Franklin Gothic"/>
              </a:rPr>
              <a:t>(Beyond Traditional MLOps)</a:t>
            </a:r>
          </a:p>
        </p:txBody>
      </p:sp>
      <p:sp>
        <p:nvSpPr>
          <p:cNvPr id="1008" name="Sec 1008"/>
          <p:cNvSpPr txBox="1"/>
          <p:nvPr/>
        </p:nvSpPr>
        <p:spPr>
          <a:xfrm>
            <a:off x="4443761" y="3330000"/>
            <a:ext cx="3304478" cy="2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Semantic Evaluation: </a:t>
            </a:r>
            <a:r>
              <a:rPr lang="en-US" sz="1100" dirty="0">
                <a:solidFill>
                  <a:srgbClr val="1A1A1A"/>
                </a:solidFill>
                <a:latin typeface="Franklin Gothic"/>
                <a:cs typeface="Franklin Gothic"/>
              </a:rPr>
              <a:t>Fuzzy integration testing via LLM-as-a-Judge to grade non-deterministic AI outputs.</a:t>
            </a:r>
          </a:p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Agentic Guardrails: </a:t>
            </a:r>
            <a:r>
              <a:rPr lang="en-US" sz="1100" dirty="0">
                <a:solidFill>
                  <a:srgbClr val="1A1A1A"/>
                </a:solidFill>
                <a:latin typeface="Franklin Gothic"/>
                <a:cs typeface="Franklin Gothic"/>
              </a:rPr>
              <a:t>Strict RBAC + FinOps token rate-limiting to contain autonomous agents' blast radius &amp; cost.</a:t>
            </a:r>
          </a:p>
        </p:txBody>
      </p:sp>
      <p:sp>
        <p:nvSpPr>
          <p:cNvPr id="1009" name="Shape 1009"/>
          <p:cNvSpPr/>
          <p:nvPr/>
        </p:nvSpPr>
        <p:spPr>
          <a:xfrm>
            <a:off x="8178239" y="1650000"/>
            <a:ext cx="3664478" cy="4550000"/>
          </a:xfrm>
          <a:prstGeom prst="roundRect">
            <a:avLst>
              <a:gd name="adj" fmla="val 4000"/>
            </a:avLst>
          </a:prstGeom>
          <a:solidFill>
            <a:srgbClr val="F7F9FE"/>
          </a:solidFill>
          <a:ln w="9525">
            <a:solidFill>
              <a:srgbClr val="CADCFC"/>
            </a:solidFill>
          </a:ln>
        </p:spPr>
        <p:txBody>
          <a:bodyPr wrap="square" lIns="45720" tIns="22860" rIns="45720" bIns="22860" anchor="ctr" anchorCtr="0">
            <a:noAutofit/>
          </a:bodyPr>
          <a:lstStyle/>
          <a:p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9750478" y="183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45720" tIns="22860" rIns="45720" bIns="2286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Franklin Gothic"/>
                <a:cs typeface="Franklin Gothic"/>
              </a:rPr>
              <a:t>3</a:t>
            </a:r>
          </a:p>
        </p:txBody>
      </p:sp>
      <p:sp>
        <p:nvSpPr>
          <p:cNvPr id="1011" name="Shape 1011"/>
          <p:cNvSpPr/>
          <p:nvPr/>
        </p:nvSpPr>
        <p:spPr>
          <a:xfrm>
            <a:off x="8328239" y="2430000"/>
            <a:ext cx="3364478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1E2761"/>
                </a:solidFill>
                <a:latin typeface="Franklin Gothic"/>
                <a:cs typeface="Franklin Gothic"/>
              </a:rPr>
              <a:t>Human-Computer Interaction (HCI) Psychology</a:t>
            </a:r>
          </a:p>
        </p:txBody>
      </p:sp>
      <p:sp>
        <p:nvSpPr>
          <p:cNvPr id="1012" name="Sec 1012"/>
          <p:cNvSpPr txBox="1"/>
          <p:nvPr/>
        </p:nvSpPr>
        <p:spPr>
          <a:xfrm>
            <a:off x="8358239" y="3330000"/>
            <a:ext cx="3304478" cy="2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08000"/>
              </a:lnSpc>
              <a:spcBef>
                <a:spcPts val="900"/>
              </a:spcBef>
              <a:buClr>
                <a:srgbClr val="1E2761"/>
              </a:buClr>
              <a:buFont typeface="Arial"/>
              <a:buChar char="●"/>
            </a:pPr>
            <a:r>
              <a:rPr lang="en-US" sz="1100" b="1" dirty="0">
                <a:solidFill>
                  <a:srgbClr val="1E2761"/>
                </a:solidFill>
                <a:latin typeface="Franklin Gothic"/>
                <a:cs typeface="Franklin Gothic"/>
              </a:rPr>
              <a:t>Preventing Vigilance Decay &amp; Automation Bias: </a:t>
            </a:r>
            <a:r>
              <a:rPr lang="en-US" sz="1100" dirty="0">
                <a:solidFill>
                  <a:srgbClr val="1A1A1A"/>
                </a:solidFill>
                <a:latin typeface="Franklin Gothic"/>
                <a:cs typeface="Franklin Gothic"/>
              </a:rPr>
              <a:t>Cognitive Forcing Functions — Confirmation Checkpoints &amp; Confidence Heatmaps — keep humans critically engaged.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>
            <a:spLocks noGrp="1"/>
          </p:cNvSpPr>
          <p:nvPr>
            <p:ph type="title"/>
          </p:nvPr>
        </p:nvSpPr>
        <p:spPr>
          <a:xfrm>
            <a:off x="221908" y="254594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Team Member Details </a:t>
            </a:r>
            <a:endParaRPr/>
          </a:p>
        </p:txBody>
      </p:sp>
      <p:graphicFrame>
        <p:nvGraphicFramePr>
          <p:cNvPr id="173" name="Google Shape;173;p4"/>
          <p:cNvGraphicFramePr/>
          <p:nvPr>
            <p:extLst>
              <p:ext uri="{D42A27DB-BD31-4B8C-83A1-F6EECF244321}">
                <p14:modId xmlns:p14="http://schemas.microsoft.com/office/powerpoint/2010/main" val="1665068958"/>
              </p:ext>
            </p:extLst>
          </p:nvPr>
        </p:nvGraphicFramePr>
        <p:xfrm>
          <a:off x="252203" y="1009338"/>
          <a:ext cx="11838197" cy="2651810"/>
        </p:xfrm>
        <a:graphic>
          <a:graphicData uri="http://schemas.openxmlformats.org/drawingml/2006/table">
            <a:tbl>
              <a:tblPr firstRow="1" bandRow="1">
                <a:tableStyleId>{F5626477-4518-4685-8634-3717B58DE60A}</a:tableStyleId>
              </a:tblPr>
              <a:tblGrid>
                <a:gridCol w="88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0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5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SI. No.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Name of Team Member 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FFFFFF"/>
                          </a:solidFill>
                        </a:rPr>
                        <a:t>Branch (</a:t>
                      </a:r>
                      <a:r>
                        <a:rPr lang="en-US" sz="1800" b="1" u="none" strike="noStrike" cap="none" dirty="0" err="1">
                          <a:solidFill>
                            <a:srgbClr val="FFFFFF"/>
                          </a:solidFill>
                        </a:rPr>
                        <a:t>Btech</a:t>
                      </a:r>
                      <a:r>
                        <a:rPr lang="en-US" sz="1800" b="1" u="none" strike="noStrike" cap="none" dirty="0">
                          <a:solidFill>
                            <a:srgbClr val="FFFFFF"/>
                          </a:solidFill>
                        </a:rPr>
                        <a:t>/</a:t>
                      </a:r>
                      <a:r>
                        <a:rPr lang="en-US" sz="1800" b="1" u="none" strike="noStrike" cap="none" dirty="0" err="1">
                          <a:solidFill>
                            <a:srgbClr val="FFFFFF"/>
                          </a:solidFill>
                        </a:rPr>
                        <a:t>Mtech</a:t>
                      </a:r>
                      <a:r>
                        <a:rPr lang="en-US" sz="1800" b="1" u="none" strike="noStrike" cap="none" dirty="0">
                          <a:solidFill>
                            <a:srgbClr val="FFFFFF"/>
                          </a:solidFill>
                        </a:rPr>
                        <a:t>/PhD </a:t>
                      </a:r>
                      <a:r>
                        <a:rPr lang="en-US" sz="1800" b="1" u="none" strike="noStrike" cap="none" dirty="0" err="1">
                          <a:solidFill>
                            <a:srgbClr val="FFFFFF"/>
                          </a:solidFill>
                        </a:rPr>
                        <a:t>etc</a:t>
                      </a:r>
                      <a:r>
                        <a:rPr lang="en-US" sz="1800" b="1" u="none" strike="noStrike" cap="none" dirty="0">
                          <a:solidFill>
                            <a:srgbClr val="FFFFFF"/>
                          </a:solidFill>
                        </a:rPr>
                        <a:t>):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Stream (ECE, CSE etc):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Year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Position in team </a:t>
                      </a: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</a:rPr>
                        <a:t>(Team Leader, Front end Developer, Back end Developer, Full Stack, Data base management etc.)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1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Pranitha Pramod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B.Tech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CSE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3rd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/>
                        <a:t>Team Leader / 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AI/NLP Engineer</a:t>
                      </a:r>
                      <a:endParaRPr lang="en-US" sz="1800" b="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2</a:t>
                      </a:r>
                      <a:endParaRPr sz="1400" b="1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Amina Zera Rahees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/>
                        <a:t>B.Tech</a:t>
                      </a:r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CSE(CPS)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3rd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Full Stack</a:t>
                      </a:r>
                      <a:endParaRPr sz="1800" b="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070376"/>
                  </a:ext>
                </a:extLst>
              </a:tr>
              <a:tr h="25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3</a:t>
                      </a:r>
                      <a:endParaRPr sz="1400" b="1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Anujaya Bijay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/>
                        <a:t>B.Tech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CSE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3rd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Backend/Security Developer - Python/FastAPI</a:t>
                      </a:r>
                      <a:endParaRPr sz="1800" b="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4</a:t>
                      </a:r>
                      <a:endParaRPr sz="1400" b="1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Nandana D Nair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/>
                        <a:t>B.Tech</a:t>
                      </a:r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CSE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3rd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Frontend Developer - React.js</a:t>
                      </a:r>
                      <a:endParaRPr sz="1800" b="0" u="none" strike="noStrike" cap="none" dirty="0"/>
                    </a:p>
                  </a:txBody>
                  <a:tcPr marL="91450" marR="91450" marT="45725" marB="45725">
                    <a:solidFill>
                      <a:srgbClr val="F7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4" name="Google Shape;174;p4"/>
          <p:cNvGraphicFramePr/>
          <p:nvPr>
            <p:extLst>
              <p:ext uri="{D42A27DB-BD31-4B8C-83A1-F6EECF244321}">
                <p14:modId xmlns:p14="http://schemas.microsoft.com/office/powerpoint/2010/main" val="2498441186"/>
              </p:ext>
            </p:extLst>
          </p:nvPr>
        </p:nvGraphicFramePr>
        <p:xfrm>
          <a:off x="252203" y="4887248"/>
          <a:ext cx="11687625" cy="1381790"/>
        </p:xfrm>
        <a:graphic>
          <a:graphicData uri="http://schemas.openxmlformats.org/drawingml/2006/table">
            <a:tbl>
              <a:tblPr firstRow="1" bandRow="1">
                <a:noFill/>
                <a:tableStyleId>{F5626477-4518-4685-8634-3717B58DE60A}</a:tableStyleId>
              </a:tblPr>
              <a:tblGrid>
                <a:gridCol w="926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8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SI. No.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Name of Mentor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Category </a:t>
                      </a: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(Academic/Industry):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Expertise </a:t>
                      </a: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</a:rPr>
                        <a:t>(AI/ML/Blockchain etc):</a:t>
                      </a: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 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</a:rPr>
                        <a:t>Domain Experience  </a:t>
                      </a: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(in Years 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strike="noStrike" cap="none" dirty="0"/>
                        <a:t>Dr. Garima Sinha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Academic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AIML, Cyber Security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5 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2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Priya Chanda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Academic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AIML</a:t>
                      </a:r>
                      <a:endParaRPr sz="18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2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42249"/>
                  </a:ext>
                </a:extLst>
              </a:tr>
            </a:tbl>
          </a:graphicData>
        </a:graphic>
      </p:graphicFrame>
      <p:sp>
        <p:nvSpPr>
          <p:cNvPr id="175" name="Google Shape;175;p4"/>
          <p:cNvSpPr txBox="1"/>
          <p:nvPr/>
        </p:nvSpPr>
        <p:spPr>
          <a:xfrm>
            <a:off x="221908" y="4102607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Mentor Details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2577</TotalTime>
  <Words>937</Words>
  <Application>Microsoft Office PowerPoint</Application>
  <PresentationFormat>Widescreen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Libre Franklin</vt:lpstr>
      <vt:lpstr>Calibri</vt:lpstr>
      <vt:lpstr>Wingdings</vt:lpstr>
      <vt:lpstr>Arial</vt:lpstr>
      <vt:lpstr>Franklin Gothic</vt:lpstr>
      <vt:lpstr>Office Theme</vt:lpstr>
      <vt:lpstr>Basic Details of the Team and Problem Statement</vt:lpstr>
      <vt:lpstr>Idea/Approach Details</vt:lpstr>
      <vt:lpstr>Idea/Approach Details</vt:lpstr>
      <vt:lpstr>Effort, Cost and Time line</vt:lpstr>
      <vt:lpstr>Open for Any Additions &amp; Enhancements</vt:lpstr>
      <vt:lpstr>Team Member Details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Sarim Moin</dc:creator>
  <cp:lastModifiedBy>Nandana D Nair</cp:lastModifiedBy>
  <cp:revision>4</cp:revision>
  <dcterms:created xsi:type="dcterms:W3CDTF">2022-02-11T07:14:46Z</dcterms:created>
  <dcterms:modified xsi:type="dcterms:W3CDTF">2026-07-27T13:12:40Z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